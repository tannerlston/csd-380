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deployment frequency</c:v>
                </c:pt>
              </c:strCache>
            </c:strRef>
          </c:tx>
          <c:spPr>
            <a:solidFill>
              <a:srgbClr val="3E50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D2D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Low performers</c:v>
                </c:pt>
                <c:pt idx="1">
                  <c:v>Elite performers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E0-3C44-80DC-55F6AEB5FD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E6E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AD6C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E6E66"/>
                    </a:solidFill>
                    <a:latin typeface="Calibri"/>
                  </a:defRPr>
                </a:pPr>
                <a:r>
                  <a:rPr lang="en-US" sz="1200" b="0" i="0" u="none" strike="noStrike">
                    <a:solidFill>
                      <a:srgbClr val="6E6E66"/>
                    </a:solidFill>
                    <a:latin typeface="Calibri"/>
                  </a:rPr>
                  <a:t>Relative deployment frequency (index, low = 1)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187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5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Value Stream Explains Why Deployment Lead Time Ranges From Months to Minutes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E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review of the value-stream framework in The DevOps Handbook.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1280160" cy="32004"/>
          </a:xfrm>
          <a:prstGeom prst="rect">
            <a:avLst/>
          </a:prstGeom>
          <a:solidFill>
            <a:srgbClr val="FF6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CSD380 DevOps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Tanner Elston – September 9,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speed now separates high-performing technology organizations from the rest, yet many teams still ship in months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1554480"/>
            <a:ext cx="10369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performers: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demand, multiple times per day, and recover from failed changes in under an hour.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23160"/>
            <a:ext cx="10369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performers: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ship between once a month and once every six months, with recovery often taking a week or more.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291840"/>
            <a:ext cx="10369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stability move together: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performers combine frequent deployment with change failure rates near 0–15%, while low performers run 46–60% (Forsgren, Humble &amp; Kim, 2019). Faster is not riskier here — it is safer.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4160520"/>
            <a:ext cx="10369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value stream framework explains why this gap is structural rather than a matter of individual effort, and identifies exactly where in the pipeline it can be closed.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Forsgren, Humble &amp; Kim (2019), Accelerate State of DevOps Report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asks what separates months-long deployments from deployments measured in minutes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80160" y="1554480"/>
            <a:ext cx="9601200" cy="1234440"/>
          </a:xfrm>
          <a:prstGeom prst="roundRect">
            <a:avLst>
              <a:gd name="adj" fmla="val 5926"/>
            </a:avLst>
          </a:prstGeom>
          <a:solidFill>
            <a:srgbClr val="FFE7DA"/>
          </a:solidFill>
          <a:ln w="15875">
            <a:solidFill>
              <a:srgbClr val="FF6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554480" y="1645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organizations stuck at deployment lead times of months from those that achieve minutes?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23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3017520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the technology value stream framework from The DevOps Handbook (Kim, Humble, Debois &amp; Willis, 2016), which models software delivery the way Lean models a manufacturing value stream.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23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4069080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three measurable properties of that stream — lead time, process time, and percent complete and accurate — and the two documented endpoints they produce: deployments measured in months, and deployments measured in minutes.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Kim, Humble, Debois &amp; Willis (2016)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separates two clocks: lead time as the customer experiences it, and process time spent actively working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2803550" cy="54864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352190" y="2331720"/>
            <a:ext cx="3871570" cy="548640"/>
          </a:xfrm>
          <a:prstGeom prst="rect">
            <a:avLst/>
          </a:prstGeom>
          <a:solidFill>
            <a:srgbClr val="3E503C"/>
          </a:solidFill>
          <a:ln w="12700">
            <a:solidFill>
              <a:srgbClr val="3E5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803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in queue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52190" y="2331720"/>
            <a:ext cx="3871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675120" cy="0"/>
          </a:xfrm>
          <a:prstGeom prst="line">
            <a:avLst/>
          </a:prstGeom>
          <a:noFill/>
          <a:ln w="19050">
            <a:solidFill>
              <a:srgbClr val="3E5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52190" y="3200400"/>
            <a:ext cx="3871570" cy="0"/>
          </a:xfrm>
          <a:prstGeom prst="line">
            <a:avLst/>
          </a:prstGeom>
          <a:noFill/>
          <a:ln w="25400">
            <a:solidFill>
              <a:srgbClr val="FF6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190" y="3337560"/>
            <a:ext cx="38715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TIME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made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fulfilled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away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33172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18704" y="2331720"/>
            <a:ext cx="3602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made → fulfilled, including all queue wait; this is what the customer actually experiences.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29184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18704" y="3291840"/>
            <a:ext cx="3602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time: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only once work begins — excludes queue wait; this is what the team's effort actually costs.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25196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918704" y="4251960"/>
            <a:ext cx="3602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lead time is queue wait, not work — speeding up the work alone rarely fixes a slow value stream.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Kim, Humble, Debois &amp; Willis (2016), p. 9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metric, percent complete and accurate, tests whether fast delivery is also usable delivery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1554480"/>
            <a:ext cx="10369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%C/A: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a step's output the next step can use without rework, correction, or added information.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31720"/>
            <a:ext cx="10369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handed off with missing specs may be “100% complete” but 0% accurate — the next step still has to chase down what's missing before it can proceed.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108960"/>
            <a:ext cx="10369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%C/A: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extra work that lengthens lead time even when a step looks fast on paper.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886200"/>
            <a:ext cx="10369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process time, and %C/A jointly describe both the speed and the quality of flow through the whole value stream.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Kim, Humble, Debois &amp; Willis (2016), pp. 9–10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common scenario, five sequential handoffs stretch deployment lead time to three months or more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247242" cy="141732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124724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2148840"/>
            <a:ext cx="1137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isolated coding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95882" y="169164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05610" y="1691640"/>
            <a:ext cx="1247242" cy="141732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905610" y="1801368"/>
            <a:ext cx="124724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0474" y="2148840"/>
            <a:ext cx="1137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breaks the build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52851" y="169164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2579" y="1691640"/>
            <a:ext cx="1247242" cy="141732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62579" y="1801368"/>
            <a:ext cx="124724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317443" y="2148840"/>
            <a:ext cx="1137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testing, scarce environments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09821" y="169164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9549" y="1691640"/>
            <a:ext cx="1247242" cy="141732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619549" y="1801368"/>
            <a:ext cx="124724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74413" y="2148840"/>
            <a:ext cx="1137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sign-offs, change boards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866790" y="169164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76518" y="1691640"/>
            <a:ext cx="1247242" cy="141732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976518" y="1801368"/>
            <a:ext cx="124724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031382" y="2148840"/>
            <a:ext cx="1137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release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FE7DA"/>
          </a:solidFill>
          <a:ln w="15875">
            <a:solidFill>
              <a:srgbClr val="FF6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4864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3+ months, end to end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away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219456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918704" y="219456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waits and manual testing push validation late into the cycle, when fixes cost the most.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306324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918704" y="306324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deployment steps require heroics and off-hours work to ship safely.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39319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918704" y="393192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errors compound across five handoffs into large-scale, hard-to-diagnose risk.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480060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918704" y="480060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team owns the full stream, so nobody is positioned to see the compounding delay.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 et al. (2016), p. 10, concept after Edwards, “DevOps Kaizen” (2015)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batches, automated testing, and modular architecture compress the same value stream to minutes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586484" cy="141732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15864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2258568"/>
            <a:ext cx="1476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continuously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135124" y="169164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44852" y="1691640"/>
            <a:ext cx="1586484" cy="141732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44852" y="1801368"/>
            <a:ext cx="15864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99716" y="2258568"/>
            <a:ext cx="1476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commit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31336" y="169164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41064" y="1691640"/>
            <a:ext cx="1586484" cy="1417320"/>
          </a:xfrm>
          <a:prstGeom prst="rect">
            <a:avLst/>
          </a:prstGeom>
          <a:solidFill>
            <a:srgbClr val="F1F1EC"/>
          </a:solidFill>
          <a:ln w="12700">
            <a:solidFill>
              <a:srgbClr val="DA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941064" y="1801368"/>
            <a:ext cx="15864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deploy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95928" y="2258568"/>
            <a:ext cx="1476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demand, no manual wait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527548" y="169164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37276" y="1691640"/>
            <a:ext cx="1586484" cy="1417320"/>
          </a:xfrm>
          <a:prstGeom prst="rect">
            <a:avLst/>
          </a:prstGeom>
          <a:solidFill>
            <a:srgbClr val="FF6F3D"/>
          </a:solidFill>
          <a:ln w="12700">
            <a:solidFill>
              <a:srgbClr val="FF6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637276" y="1801368"/>
            <a:ext cx="15864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92140" y="2258568"/>
            <a:ext cx="1476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E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within minutes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E7DA"/>
          </a:solidFill>
          <a:ln w="15875">
            <a:solidFill>
              <a:srgbClr val="FF6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or hours, at worst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away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19456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918704" y="219456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get fast, continuous feedback on small changes instead of waiting weeks for a verdict.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06324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918704" y="306324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environments remove manual provisioning delay entirely.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93192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918704" y="393192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services deploy independently, so failures stay small and contained instead of cascading.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4800600"/>
            <a:ext cx="237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918704" y="480060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change is small, there is little for any single step to get wrong — %C/A stays high.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 et al. (2016), p. 10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performers deploy roughly 208 times more often than low performers doing the same work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965960"/>
          <a:ext cx="6675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480560" y="14173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E7DA"/>
          </a:solidFill>
          <a:ln w="15875">
            <a:solidFill>
              <a:srgbClr val="FF6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4805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208× more frequent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away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468880"/>
            <a:ext cx="23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918704" y="2468880"/>
            <a:ext cx="3602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frequency gap mirrors the value-stream differences shown on the prior two slides.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520440"/>
            <a:ext cx="23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918704" y="3520440"/>
            <a:ext cx="3602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performers combine automation, small batches, and modular architecture to get there.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4572000"/>
            <a:ext cx="237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918704" y="4572000"/>
            <a:ext cx="3602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research finds elite performers report change failure rates near 0–15%, versus 46–60% for low performers — speed and stability move together.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Forsgren, Humble &amp; Kim (2019), Accelerate State of DevOps Report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lead time requires treating environment creation, deployment automation, and architecture as one connected constraint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3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182880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one constraint alone rarely closes the gap; environment waits, manual deployment, and slow testing compound together.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3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51460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describes widely observed patterns across many organizations, not a single universal fix that applies unchanged everywhere.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23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20040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speed and stability move together in the data, faster deployment should not be read as a trade-off against reliability.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69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23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43484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synthesizes documented patterns and industry survey data; it does not measure causal impact for any single organization.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23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512064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constraints, and how much each one contributes to lead time, vary by architecture, regulatory environment, and team maturity.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5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607040" cy="32004"/>
          </a:xfrm>
          <a:prstGeom prst="rect">
            <a:avLst/>
          </a:prstGeom>
          <a:solidFill>
            <a:srgbClr val="FF6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Value is realized only in production: 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stream only pays off once code runs there for the customer; work sitting in a branch or a test environment is not yet value delivered.</a:t>
            </a:r>
            <a:endParaRPr lang="en-US" sz="1900" dirty="0"/>
          </a:p>
          <a:p>
            <a:pPr marL="0" indent="0">
              <a:lnSpc>
                <a:spcPct val="11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Speed and quality move together, not against each other: 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process time, and %C/A jointly describe delivery health, and the performers who deploy most often also report the lowest failure rates.</a:t>
            </a:r>
            <a:endParaRPr lang="en-US" sz="1900" dirty="0"/>
          </a:p>
          <a:p>
            <a:pPr marL="0" indent="0">
              <a:lnSpc>
                <a:spcPct val="11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Months to minutes is documented and achievable: 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automation, small batches, and modular architecture — not through working harder within the same process.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607040" cy="27432"/>
          </a:xfrm>
          <a:prstGeom prst="rect">
            <a:avLst/>
          </a:prstGeom>
          <a:solidFill>
            <a:srgbClr val="DAD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607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Forsgren, N., Humble, J., &amp; Kim, G. (2019). Accelerate State of DevOps Report. DORA / Google Cloud.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Forsgren, N., Humble, J., &amp; Kim, G. (2018). Accelerate: The Science of Lean Software and DevOps. IT Revolution Press.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G., Humble, J., Debois, P., &amp; Willis, J. (2016). The DevOps Handbook: How to Create World-Class Agility, Reliability, and Security in Technology Organizations. IT Revolution Press.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G. (2012). The Three Ways: The Principles Underpinning DevOps. IT Revolution Press blog.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Martin, K., &amp; Osterling, M. (2013). Value Stream Mapping. McGraw-Hill Education.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Microsoft Macintosh PowerPoint</Application>
  <PresentationFormat>Widescreen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Tanner Elston</cp:lastModifiedBy>
  <cp:revision>2</cp:revision>
  <dcterms:created xsi:type="dcterms:W3CDTF">2026-09-13T22:10:50Z</dcterms:created>
  <dcterms:modified xsi:type="dcterms:W3CDTF">2026-09-13T22:12:54Z</dcterms:modified>
</cp:coreProperties>
</file>