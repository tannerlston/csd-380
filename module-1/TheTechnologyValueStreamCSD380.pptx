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Deployments per day</c:v>
                </c:pt>
              </c:strCache>
            </c:strRef>
          </c:tx>
          <c:spPr>
            <a:solidFill>
              <a:srgbClr val="3E503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2D2D2D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2011</c:v>
                </c:pt>
                <c:pt idx="1">
                  <c:v>2015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7000</c:v>
                </c:pt>
                <c:pt idx="1">
                  <c:v>130000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E8-F94C-A8DC-A4C73060C8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E6E6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AD6C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E6E66"/>
                    </a:solidFill>
                    <a:latin typeface="Calibri"/>
                  </a:defRPr>
                </a:pPr>
                <a:r>
                  <a:rPr lang="en-US" sz="1200" b="0" i="0" u="none" strike="noStrike">
                    <a:solidFill>
                      <a:srgbClr val="6E6E66"/>
                    </a:solidFill>
                    <a:latin typeface="Calibri"/>
                  </a:rPr>
                  <a:t>Deployments per day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6539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50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Value Stream Explains Why Deployment Lead Time Ranges From Months to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3E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conceptual review of the value-stream framework in The DevOps Handbook.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1280160" cy="32004"/>
          </a:xfrm>
          <a:prstGeom prst="rect">
            <a:avLst/>
          </a:prstGeom>
          <a:solidFill>
            <a:srgbClr val="FF6F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C4AE"/>
                </a:solidFill>
                <a:latin typeface="Calibri" pitchFamily="34" charset="0"/>
                <a:cs typeface="Calibri" pitchFamily="34" charset="-120"/>
              </a:rPr>
              <a:t>CSD380 DevOps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80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Tanner Elston  ·  September 9,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speed now separates high-performing technology organizations from the rest, yet many teams still ship in months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554480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High-performing organizations such as Google, Amazon, Facebook, Etsy, and Netflix routinely and reliably deploy code into production hundreds, or even thousands, of times per day.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23160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other organizations still need weeks or months to develop a change, and then weeks or months more to deploy it, often with poor outcomes.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91840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frames agility and reliability as goals reached together, not traded off against each other, once flow, feedback, and continual learning are in place.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6052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4160520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value stream framework explains why this gap is structural rather than a matter of individual effort, and it identifies exactly where in the pipeline the gap can be closed.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asks what separates months-long deployments from deployments measured in minutes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280160" y="1554480"/>
            <a:ext cx="9601200" cy="1234440"/>
          </a:xfrm>
          <a:prstGeom prst="roundRect">
            <a:avLst>
              <a:gd name="adj" fmla="val 5926"/>
            </a:avLst>
          </a:prstGeom>
          <a:solidFill>
            <a:srgbClr val="FFE7DA"/>
          </a:solidFill>
          <a:ln w="15875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554480" y="164592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distinguishes organizations stuck at deployment lead times of months from those that achieve minutes?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237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3017520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Approach: </a:t>
            </a: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synthesizes the technology value stream framework from The DevOps Handbook (Kim, Humble, Debois &amp; Willis, 2016), which models software delivery the way Lean models a manufacturing value stream.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237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4069080"/>
            <a:ext cx="10369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three measurable properties of that stream (lead time, process time, and percent complete and accurate) and the two documented endpoints they produce: deployments measured in months, and deployments measured in minutes.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separates two clocks: lead time as the customer experiences it, and process time spent actively working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2331720"/>
            <a:ext cx="2803550" cy="54864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352190" y="2331720"/>
            <a:ext cx="3871570" cy="548640"/>
          </a:xfrm>
          <a:prstGeom prst="rect">
            <a:avLst/>
          </a:prstGeom>
          <a:solidFill>
            <a:srgbClr val="3E503C"/>
          </a:solidFill>
          <a:ln w="12700">
            <a:solidFill>
              <a:srgbClr val="3E5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2803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in queue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52190" y="2331720"/>
            <a:ext cx="387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6675120" cy="0"/>
          </a:xfrm>
          <a:prstGeom prst="line">
            <a:avLst/>
          </a:prstGeom>
          <a:noFill/>
          <a:ln w="19050">
            <a:solidFill>
              <a:srgbClr val="3E50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15544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52190" y="3200400"/>
            <a:ext cx="3871570" cy="0"/>
          </a:xfrm>
          <a:prstGeom prst="line">
            <a:avLst/>
          </a:prstGeom>
          <a:noFill/>
          <a:ln w="25400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3352190" y="3337560"/>
            <a:ext cx="38715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made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fulfilled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take away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2331720"/>
            <a:ext cx="237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18704" y="2331720"/>
            <a:ext cx="3602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time: </a:t>
            </a: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made → fulfilled, including all queue wait; this is what the customer actually experiences.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337560"/>
            <a:ext cx="237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18704" y="3337560"/>
            <a:ext cx="3602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time: </a:t>
            </a: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only once work begins, excluding queue wait; this is what the team's effort actually costs.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343400"/>
            <a:ext cx="237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918704" y="4343400"/>
            <a:ext cx="3602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lead time is queue wait, not work. Speeding up the work alone rarely fixes a slow value stream.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(2016), p. 51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metric, percent complete and accurate, tests whether fast delivery is also usable delivery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3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554480"/>
            <a:ext cx="10369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%C/A: the share of a step's output the next step can use without rework, correction, or added information.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23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331720"/>
            <a:ext cx="10369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handed off with missing specs might be "100% complete" but 0% accurate. The next step still has to chase down what's missing before it can proceed.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23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08960"/>
            <a:ext cx="10369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%C/A hides extra work that lengthens lead time even when a step looks fast on paper.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86200"/>
            <a:ext cx="23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886200"/>
            <a:ext cx="10369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lead time, process time, and %C/A describe both the speed and the quality of flow through the whole value stream.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(2016), pp. 52–53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common scenario, five sequential handoffs stretch deployment lead time to three months or more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247242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1801368"/>
            <a:ext cx="124724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2148840"/>
            <a:ext cx="1137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isolated coding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795882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05610" y="1691640"/>
            <a:ext cx="1247242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905610" y="1801368"/>
            <a:ext cx="124724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960474" y="2148840"/>
            <a:ext cx="1137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breaks the build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52851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62579" y="1691640"/>
            <a:ext cx="1247242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262579" y="1801368"/>
            <a:ext cx="124724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317443" y="2148840"/>
            <a:ext cx="1137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testing, scarce environments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09821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9549" y="1691640"/>
            <a:ext cx="1247242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619549" y="1801368"/>
            <a:ext cx="124724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74413" y="2148840"/>
            <a:ext cx="1137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sign-offs, change boards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866790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76518" y="1691640"/>
            <a:ext cx="1247242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5976518" y="1801368"/>
            <a:ext cx="124724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031382" y="2148840"/>
            <a:ext cx="11375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error-prone release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37560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FE7DA"/>
          </a:solidFill>
          <a:ln w="15875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548640" y="3337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3+ months, end to end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take away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219456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918704" y="219456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waits and manual testing push validation late into the cycle, when fixes cost the most.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306324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918704" y="306324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error-prone deployment steps require heroics and off-hours work to ship safely.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680960" y="393192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918704" y="393192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errors compound across five handoffs into large-scale, hard-to-diagnose risk.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480060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918704" y="480060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team owns the full stream, so nobody is positioned to see the compounding delay.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(2016), pp. 51-52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batches, automated testing, and modular architecture compress the same value stream to minutes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586484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1801368"/>
            <a:ext cx="158648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change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2258568"/>
            <a:ext cx="1476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 continuously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135124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44852" y="1691640"/>
            <a:ext cx="1586484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244852" y="1801368"/>
            <a:ext cx="158648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99716" y="2258568"/>
            <a:ext cx="1476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every commit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831336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941064" y="1691640"/>
            <a:ext cx="1586484" cy="1417320"/>
          </a:xfrm>
          <a:prstGeom prst="rect">
            <a:avLst/>
          </a:prstGeom>
          <a:solidFill>
            <a:srgbClr val="F1F1EC"/>
          </a:solidFill>
          <a:ln w="12700">
            <a:solidFill>
              <a:srgbClr val="DAD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941064" y="1801368"/>
            <a:ext cx="158648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deploy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95928" y="2258568"/>
            <a:ext cx="1476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demand, no manual wait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27548" y="169164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37276" y="1691640"/>
            <a:ext cx="1586484" cy="1417320"/>
          </a:xfrm>
          <a:prstGeom prst="rect">
            <a:avLst/>
          </a:prstGeom>
          <a:solidFill>
            <a:srgbClr val="FF6F3D"/>
          </a:solidFill>
          <a:ln w="12700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637276" y="1801368"/>
            <a:ext cx="158648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92140" y="2258568"/>
            <a:ext cx="1476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3E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within minutes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3291840" cy="502920"/>
          </a:xfrm>
          <a:prstGeom prst="roundRect">
            <a:avLst>
              <a:gd name="adj" fmla="val 10909"/>
            </a:avLst>
          </a:prstGeom>
          <a:solidFill>
            <a:srgbClr val="FFE7DA"/>
          </a:solidFill>
          <a:ln w="15875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or hours at worst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take away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219456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918704" y="219456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get fast, continuous feedback on small changes instead of waiting weeks for a verdict.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306324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306324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environments remove manual provisioning delay entirely.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393192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918704" y="393192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services deploy independently, so failures stay small and contained instead of cascading.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00600"/>
            <a:ext cx="237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918704" y="4800600"/>
            <a:ext cx="3602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each change is small, there is little for any single step to get wrong, so %C/A stays high.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(2016), p. 52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own deployment frequency grew more than eighteenfold in four years after adopting these practices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965960"/>
          <a:ext cx="667512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4480560" y="141732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FE7DA"/>
          </a:solidFill>
          <a:ln w="15875">
            <a:solidFill>
              <a:srgbClr val="FF6F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48056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~130,000 deploys per day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965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take away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468880"/>
            <a:ext cx="237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246888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own history shows how far deployment frequency can scale once flow, feedback, and automation take hold.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657600"/>
            <a:ext cx="237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18704" y="365760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mirrors the shift from the common scenario to the DevOps ideal described on the two prior slides.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846320"/>
            <a:ext cx="237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918704" y="484632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presents this alongside similar examples from Google and Netflix as evidence that the shift is repeatable.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Kim, Humble, Debois &amp; Willis (2016), p. 39; p. 42 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26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lead time requires treating environment creation, deployment automation, and architecture as one connected constraint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828800"/>
            <a:ext cx="10369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one constraint alone rarely closes the gap; environment waits, manual deployment, and slow testing compound together.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10369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describes widely observed patterns across many organizations, not a single universal fix that applies unchanged everywhere.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3200400"/>
            <a:ext cx="10369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own growth in deployment frequency shows this is achieved without abandoning reliability as a goal.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690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4434840"/>
            <a:ext cx="10369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draws on a single source and its own reported examples; it does not independently verify causal impact for any organization.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237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5120640"/>
            <a:ext cx="10369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constraints, and how much each one contributes to lead time, vary by architecture, regulatory environment, and team maturity.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E50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3E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607040" cy="32004"/>
          </a:xfrm>
          <a:prstGeom prst="rect">
            <a:avLst/>
          </a:prstGeom>
          <a:solidFill>
            <a:srgbClr val="FF6F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spcAft>
                <a:spcPts val="18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Value is realized only in production: </a:t>
            </a: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stream only pays off once code runs there for the customer; work sitting in a branch or a test environment is not yet value delivered.</a:t>
            </a:r>
            <a:endParaRPr lang="en-US" sz="1900" dirty="0"/>
          </a:p>
          <a:p>
            <a:pPr marL="0" indent="0">
              <a:lnSpc>
                <a:spcPct val="115000"/>
              </a:lnSpc>
              <a:spcAft>
                <a:spcPts val="18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Speed and quality move together, not against each other: </a:t>
            </a: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time, process time, and %C/A jointly describe delivery health across the whole value stream, not just how fast code ships.</a:t>
            </a:r>
            <a:endParaRPr lang="en-US" sz="1900" dirty="0"/>
          </a:p>
          <a:p>
            <a:pPr marL="0" indent="0">
              <a:lnSpc>
                <a:spcPct val="115000"/>
              </a:lnSpc>
              <a:spcAft>
                <a:spcPts val="18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Months to minutes is documented and achievable: </a:t>
            </a: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automation, small batches, and modular architecture, not through working harder within the same process.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E5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607040" cy="27432"/>
          </a:xfrm>
          <a:prstGeom prst="rect">
            <a:avLst/>
          </a:prstGeom>
          <a:solidFill>
            <a:srgbClr val="DAD6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06070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endParaRPr lang="en-US" sz="1400" dirty="0">
              <a:solidFill>
                <a:srgbClr val="2D2D2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Forsgren, N., Humble, J., &amp; Kim, G. (2019). Accelerate State of DevOps Report. DORA / Google Cloud. https://</a:t>
            </a:r>
            <a:r>
              <a:rPr lang="en-US" sz="14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research.google</a:t>
            </a: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/pubs/2019-accelerate-state-of-devops-report/</a:t>
            </a:r>
          </a:p>
          <a:p>
            <a:pPr>
              <a:spcAft>
                <a:spcPts val="600"/>
              </a:spcAft>
            </a:pPr>
            <a:endParaRPr lang="en-US" sz="1400" dirty="0">
              <a:solidFill>
                <a:srgbClr val="2D2D2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Kim, G., Humble, J., Debois, P., &amp; Willis, J. (2016). The DevOps Handbook: How to Create World-Class Agility, Reliability, and Security in Technology Organizations. IT Revolution Press.</a:t>
            </a:r>
          </a:p>
          <a:p>
            <a:pPr marL="0" indent="0">
              <a:spcAft>
                <a:spcPts val="600"/>
              </a:spcAft>
              <a:buNone/>
            </a:pPr>
            <a:endParaRPr lang="en-US" sz="1400" dirty="0">
              <a:solidFill>
                <a:srgbClr val="2D2D2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1400" dirty="0"/>
              <a:t>Kim, G. (2012). "The Three Ways: The Principles Underpinning DevOps." IT Revolution Press blog. https://</a:t>
            </a:r>
            <a:r>
              <a:rPr lang="en-US" sz="1400" dirty="0" err="1"/>
              <a:t>itrevolution.com</a:t>
            </a:r>
            <a:r>
              <a:rPr lang="en-US" sz="1400" dirty="0"/>
              <a:t>/articles/the-three-ways-principles-underpinning-</a:t>
            </a:r>
            <a:r>
              <a:rPr lang="en-US" sz="1400" dirty="0" err="1"/>
              <a:t>devops</a:t>
            </a:r>
            <a:r>
              <a:rPr lang="en-US" sz="1400" dirty="0"/>
              <a:t>/</a:t>
            </a:r>
            <a:endParaRPr lang="en-US" sz="1400" dirty="0">
              <a:solidFill>
                <a:srgbClr val="2D2D2D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1334</Words>
  <Application>Microsoft Macintosh PowerPoint</Application>
  <PresentationFormat>Widescreen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Tanner Elston</cp:lastModifiedBy>
  <cp:revision>2</cp:revision>
  <dcterms:created xsi:type="dcterms:W3CDTF">2026-09-14T00:34:42Z</dcterms:created>
  <dcterms:modified xsi:type="dcterms:W3CDTF">2026-09-14T01:26:22Z</dcterms:modified>
</cp:coreProperties>
</file>