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en-US" sz="1600" b="0" i="0" u="none" strike="noStrike">
                <a:solidFill>
                  <a:srgbClr val="000000"/>
                </a:solidFill>
                <a:latin typeface="+mn-lt"/>
              </a:rPr>
              <a:t>Lead time (minutes)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time</c:v>
                </c:pt>
              </c:strCache>
            </c:strRef>
          </c:tx>
          <c:spPr>
            <a:solidFill>
              <a:srgbClr val="8A4A22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</c:v>
                </c:pt>
                <c:pt idx="1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E1-6446-B42C-E2D94B37F4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Wait time</c:v>
                </c:pt>
              </c:strCache>
            </c:strRef>
          </c:tx>
          <c:spPr>
            <a:solidFill>
              <a:srgbClr val="EAB162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300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E1-6446-B42C-E2D94B37F4E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77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1828800"/>
            <a:ext cx="1036015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474720"/>
            <a:ext cx="1036015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182880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tx1"/>
                </a:solidFill>
              </a:rPr>
              <a:t>Value Stream Map </a:t>
            </a:r>
            <a:br>
              <a:rPr lang="en-US" sz="4800" dirty="0">
                <a:solidFill>
                  <a:schemeClr val="tx1"/>
                </a:solidFill>
              </a:rPr>
            </a:br>
            <a:r>
              <a:rPr lang="en-US" sz="4800" dirty="0">
                <a:solidFill>
                  <a:schemeClr val="tx1"/>
                </a:solidFill>
              </a:rPr>
              <a:t>My Weekly Laundry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47472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Tanner Elston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CSD380 DevOps  |  October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My Value Stream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Start: </a:t>
            </a:r>
            <a:r>
              <a:rPr lang="en-US" sz="2200" dirty="0">
                <a:solidFill>
                  <a:schemeClr val="tx1"/>
                </a:solidFill>
              </a:rPr>
              <a:t>the hamper is full (about once a week)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End: </a:t>
            </a:r>
            <a:r>
              <a:rPr lang="en-US" sz="2200" dirty="0">
                <a:solidFill>
                  <a:schemeClr val="tx1"/>
                </a:solidFill>
              </a:rPr>
              <a:t>clothes are folded, put away, and the hamper is back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Customer: </a:t>
            </a:r>
            <a:r>
              <a:rPr lang="en-US" sz="2200" dirty="0">
                <a:solidFill>
                  <a:schemeClr val="tx1"/>
                </a:solidFill>
              </a:rPr>
              <a:t>me, needing clean clothes for the week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Time span: </a:t>
            </a:r>
            <a:r>
              <a:rPr lang="en-US" sz="2200" dirty="0">
                <a:solidFill>
                  <a:schemeClr val="tx1"/>
                </a:solidFill>
              </a:rPr>
              <a:t>one weekly cycle for one full load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Stages: </a:t>
            </a:r>
            <a:r>
              <a:rPr lang="en-US" sz="2200" dirty="0">
                <a:solidFill>
                  <a:schemeClr val="tx1"/>
                </a:solidFill>
              </a:rPr>
              <a:t>Gather &amp; Sort → Wash → Dry → Fold &amp; Hang → Put Away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Times: </a:t>
            </a:r>
            <a:r>
              <a:rPr lang="en-US" sz="2200" dirty="0">
                <a:solidFill>
                  <a:schemeClr val="tx1"/>
                </a:solidFill>
              </a:rPr>
              <a:t>my own estimates, rounded to the nearest 5 minutes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Current State Value Stream 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569" y="1236663"/>
            <a:ext cx="1737360" cy="2722103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1001" y="1368484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Collect clothes from each room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98448" y="1907980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8900" y="2123906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Sort lights, darks, towels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03003" y="2663402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3206" y="2822813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Check pockets, pretreat stains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569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Gather &amp; Sort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569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289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15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15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95%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63215" y="1240199"/>
            <a:ext cx="1737360" cy="271997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00269" y="1357065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Load washer, add detergent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68178" y="1896561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75356" y="2106434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Pick cycle and start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8044" y="2645930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76689" y="2809955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Washer runs 45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63215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Wash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863215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08935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50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80%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8997" y="1251627"/>
            <a:ext cx="1737360" cy="272239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52077" y="1396602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Move clothes to dryer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97470" y="1936098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50249" y="210588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Clean lint trap, start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23955" y="2645376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40124" y="2816556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Dryer runs 60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8997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Dry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218997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64717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65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90%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70706" y="1232452"/>
            <a:ext cx="1737360" cy="2728529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11308" y="1362294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Unload into basket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47229" y="1901790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27824" y="2094984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Fold shirts, pants, towels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58007" y="2634480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77116" y="2858026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Hang work clothes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70706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Fold &amp; Hang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570706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16426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25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25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85%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893393" y="1248490"/>
            <a:ext cx="1737360" cy="274159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011243" y="1377249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Carry basket to bedroom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683530" y="1916745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049491" y="2111505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Fill drawers and closet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668951" y="2651001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010354" y="2831917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Return basket and hamper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93393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Put Away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893393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939113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10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10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100%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096246" y="3074273"/>
            <a:ext cx="45201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548258" y="1608525"/>
            <a:ext cx="0" cy="1465748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548258" y="1608525"/>
            <a:ext cx="45201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219074" y="3246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 min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439729" y="3061415"/>
            <a:ext cx="45617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95903" y="1648062"/>
            <a:ext cx="0" cy="141335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95903" y="1648062"/>
            <a:ext cx="45617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66719" y="3246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60 min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03164" y="3068016"/>
            <a:ext cx="45407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257236" y="1613754"/>
            <a:ext cx="0" cy="1454262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257236" y="1613754"/>
            <a:ext cx="45407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928052" y="3246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180 min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140156" y="3109486"/>
            <a:ext cx="43554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575700" y="1628709"/>
            <a:ext cx="0" cy="148077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575700" y="1628709"/>
            <a:ext cx="43554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246516" y="3246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60 min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2920" y="51663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Lead time: 465 min (7.75 hrs)     Process time: 165 min     Wait time: 300 min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PT = process time (includes machine run time)     %C/A = percent complete and accurate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Analyzing Lean Metrics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2880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Process time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Hands-on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Wait after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%C/A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Gather &amp; Sort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95%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Wash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Fold &amp; Hang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Put Away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165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58% (rolled)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949440" y="132588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Lead time = 165 + 300 = 465 min (7.75 hrs)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Flow efficiency = 165 ÷ 465 = 35%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Hands-on only = 60 ÷ 465 = 13%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Rolled %C/A = 0.95 × 0.80 × 0.90 × 0.85 × 1.00 = 58%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Machine run time (105 min) counts as process time, not wait time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Lead time is the same as the article's cycle time here, since I start right when the hamper is full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Where the Waste 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Waiting: </a:t>
            </a:r>
            <a:r>
              <a:rPr lang="en-US" sz="2100" dirty="0">
                <a:solidFill>
                  <a:schemeClr val="tx1"/>
                </a:solidFill>
              </a:rPr>
              <a:t>about 65% of my lead time (300 of 465 min) is clothes just sitting</a:t>
            </a:r>
            <a:endParaRPr lang="en-US" sz="2100" dirty="0"/>
          </a:p>
          <a:p>
            <a:pPr marL="685800" lvl="1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60 min wet in the washer, 180 min in the dryer, 60 min folded on the bed</a:t>
            </a:r>
            <a:endParaRPr lang="en-US" sz="2100" dirty="0"/>
          </a:p>
          <a:p>
            <a:pPr marL="685800" lvl="1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Root cause: I did laundry on workdays, so loads finished while I was at work and sat until I got home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Rework: </a:t>
            </a:r>
            <a:r>
              <a:rPr lang="en-US" sz="2100" dirty="0">
                <a:solidFill>
                  <a:schemeClr val="tx1"/>
                </a:solidFill>
              </a:rPr>
              <a:t>musty clothes get rewashed, towels come out damp, wrinkled shirts go back in the dryer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Motion: </a:t>
            </a:r>
            <a:r>
              <a:rPr lang="en-US" sz="2100" dirty="0">
                <a:solidFill>
                  <a:schemeClr val="tx1"/>
                </a:solidFill>
              </a:rPr>
              <a:t>walking room to room to collect clothes, then sorting them on the floor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Overprocessing: </a:t>
            </a:r>
            <a:r>
              <a:rPr lang="en-US" sz="2100" dirty="0">
                <a:solidFill>
                  <a:schemeClr val="tx1"/>
                </a:solidFill>
              </a:rPr>
              <a:t>folding work shirts and then hanging them anyway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Takeaway: </a:t>
            </a:r>
            <a:r>
              <a:rPr lang="en-US" sz="2100" dirty="0">
                <a:solidFill>
                  <a:schemeClr val="tx1"/>
                </a:solidFill>
              </a:rPr>
              <a:t>no single step is slow. The time is lost between steps.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Optimizing My Process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8521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Eliminating Waste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Two-bin hamper so clothes get sorted as they come off (15 → 5 min)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Phone timer when a machine starts (washer wait 60 → 5 min, fewer musty rewashes)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Hang work shirts straight from the dryer (folding 25 → 15 min)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Workflow Orchestration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Fold as soon as the dryer buzzes (wait 180 → 10 min)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Put clothes away right after folding (wait 60 → 0 min)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Study during the 45 min wash and 60 min dry, so 105 min of process time becomes study blocks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75120" y="123444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Governance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Move laundry from workdays to Sunday evening. I'm home when each machine finishes, which fixes the root cause of the long waits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Pocket check and stain pretreat before anything goes in the washer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 the lint trap every load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Done means everything is put away and the </a:t>
            </a:r>
            <a:r>
              <a:rPr lang="en-US" sz="1600" dirty="0"/>
              <a:t>hamper</a:t>
            </a:r>
            <a:r>
              <a:rPr lang="en-US" sz="1600" dirty="0">
                <a:solidFill>
                  <a:schemeClr val="tx1"/>
                </a:solidFill>
              </a:rPr>
              <a:t> is back in its spot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Future State Value Stream 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7931" y="1217895"/>
            <a:ext cx="1737360" cy="2738386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8327" y="1379659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Grab the presorted bin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08432" y="1919155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284" y="2099733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Pocket check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3227" y="2639229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0617" y="2853208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Pretreat stains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931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Gather &amp; Sort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7931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3651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100%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51126" y="1232220"/>
            <a:ext cx="1737360" cy="2730255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69025" y="1384934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Load washer, add detergent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26454" y="1924430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71487" y="211775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Start it, set phone timer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66316" y="2657246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22547" y="2858059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Washer runs 45 min (study)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51126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Wash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851126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96846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50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98%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6118" y="1243488"/>
            <a:ext cx="1737360" cy="2750897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57268" y="134549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Move clothes, clean lint trap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01970" y="1884986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42853" y="2087492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Start it, set phone timer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05806" y="2626988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66877" y="2847656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Dryer runs 60 min (study)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6118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Dry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216118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61838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65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90%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4411" y="1251135"/>
            <a:ext cx="1737360" cy="2716152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71315" y="1376306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Hang shirts right from dryer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36709" y="1915802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51537" y="2130034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Fold the rest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37540" y="2669530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08807" y="283944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Stack by drawer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4411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Fold &amp; Hang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544411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90131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15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15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100%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901821" y="1220728"/>
            <a:ext cx="1737360" cy="2759287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067968" y="1358678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Put away right after folding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671256" y="1898174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013703" y="2114481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Bin back in its spot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708197" y="2653977"/>
            <a:ext cx="146304" cy="155448"/>
          </a:xfrm>
          <a:prstGeom prst="downArrow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050709" y="2854917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Done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901821" y="3474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Put Away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901821" y="4160520"/>
            <a:ext cx="1737360" cy="7772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947541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PT: 10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Hands-on: 10 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%C/A: 100%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083657" y="3104668"/>
            <a:ext cx="44268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526341" y="1636394"/>
            <a:ext cx="0" cy="146827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526341" y="1636394"/>
            <a:ext cx="44268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197157" y="3246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 min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485587" y="3109519"/>
            <a:ext cx="4358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921428" y="1596950"/>
            <a:ext cx="0" cy="1512569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921428" y="1596950"/>
            <a:ext cx="4358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92244" y="3246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29917" y="3099116"/>
            <a:ext cx="420699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250616" y="1627766"/>
            <a:ext cx="0" cy="147135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250616" y="1627766"/>
            <a:ext cx="420699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921432" y="3246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min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171847" y="3090900"/>
            <a:ext cx="4480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619907" y="1610138"/>
            <a:ext cx="0" cy="1480762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619907" y="1610138"/>
            <a:ext cx="4480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290723" y="324612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 min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2920" y="51663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Lead time: 160 min (2.7 hrs)     Process time: 145 min     Wait time: 15 min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Laundry is now on Sunday evening instead of workdays, so nothing sits while I'm gone. The 105 min of machine time is still process time, used as study blocks.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Before and After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486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25880"/>
          <a:ext cx="5212080" cy="345643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Before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After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Lead time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 time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Wait time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Hands-on time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Flow efficiency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91%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Hands-on only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Rolled %C/A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58%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Study blocks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 planned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105 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400800" y="5029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machines take just as long as before. Moving laundry off workdays is what keeps the waits short, since I'm home when the timers go off.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How This Connects to DevOps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01752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My laundry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Software delivery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Hamper piling up all week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Backlog of work waiting to start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Wet clothes sitting in the washer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Code waiting days for review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Rewashing musty clothes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Rework from bugs and failed deploys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Pocket check before washing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Testing before code is merged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Fixed laundry day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Regular sprint or release schedule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1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Most of my lead time was work waiting in a queue. Mapping it made that easy to see, and it was fun analyzing how I could improve the value stream of a simple weekly chore.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dry VSM">
  <a:themeElements>
    <a:clrScheme name="Laundry VSM">
      <a:dk1>
        <a:srgbClr val="281B10"/>
      </a:dk1>
      <a:lt1>
        <a:srgbClr val="FFFFFF"/>
      </a:lt1>
      <a:dk2>
        <a:srgbClr val="281B10"/>
      </a:dk2>
      <a:lt2>
        <a:srgbClr val="FCF3E4"/>
      </a:lt2>
      <a:accent1>
        <a:srgbClr val="C66930"/>
      </a:accent1>
      <a:accent2>
        <a:srgbClr val="EAB162"/>
      </a:accent2>
      <a:accent3>
        <a:srgbClr val="8A4A22"/>
      </a:accent3>
      <a:accent4>
        <a:srgbClr val="F2D3A4"/>
      </a:accent4>
      <a:accent5>
        <a:srgbClr val="5A4636"/>
      </a:accent5>
      <a:accent6>
        <a:srgbClr val="9C8670"/>
      </a:accent6>
      <a:hlink>
        <a:srgbClr val="C66930"/>
      </a:hlink>
      <a:folHlink>
        <a:srgbClr val="8A4A22"/>
      </a:folHlink>
    </a:clrScheme>
    <a:fontScheme name="Laundry VS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1157</Words>
  <Application>Microsoft Macintosh PowerPoint</Application>
  <PresentationFormat>Widescreen</PresentationFormat>
  <Paragraphs>220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Laundry VSM</vt:lpstr>
      <vt:lpstr>Value Stream Map  My Weekly Laundry</vt:lpstr>
      <vt:lpstr>My Value Stream</vt:lpstr>
      <vt:lpstr>Current State Value Stream Map</vt:lpstr>
      <vt:lpstr>Analyzing Lean Metrics</vt:lpstr>
      <vt:lpstr>Where the Waste Is</vt:lpstr>
      <vt:lpstr>Optimizing My Process</vt:lpstr>
      <vt:lpstr>Future State Value Stream Map</vt:lpstr>
      <vt:lpstr>Before and After</vt:lpstr>
      <vt:lpstr>How This Connects to DevOps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Stream Map: My Weekly Laundry</dc:title>
  <dc:subject>PptxGenJS Presentation</dc:subject>
  <dc:creator>PptxGenJS</dc:creator>
  <cp:lastModifiedBy>Tanner Elston</cp:lastModifiedBy>
  <cp:revision>2</cp:revision>
  <dcterms:created xsi:type="dcterms:W3CDTF">2026-10-12T01:07:17Z</dcterms:created>
  <dcterms:modified xsi:type="dcterms:W3CDTF">2026-10-12T01:29:10Z</dcterms:modified>
</cp:coreProperties>
</file>